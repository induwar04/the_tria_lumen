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3302C6-05A4-4A78-A316-C7F9F5FC66FD}" v="10" dt="2025-05-01T18:10:42.335"/>
    <p1510:client id="{D76C8DDA-ED98-437D-B2CC-BBCAE2CFD0B5}" v="24" dt="2025-05-01T18:02:51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uri Divyanjalee" userId="00fc05d7732b1295" providerId="LiveId" clId="{933302C6-05A4-4A78-A316-C7F9F5FC66FD}"/>
    <pc:docChg chg="undo custSel modSld">
      <pc:chgData name="Sanuri Divyanjalee" userId="00fc05d7732b1295" providerId="LiveId" clId="{933302C6-05A4-4A78-A316-C7F9F5FC66FD}" dt="2025-05-01T18:14:21.568" v="359" actId="20577"/>
      <pc:docMkLst>
        <pc:docMk/>
      </pc:docMkLst>
      <pc:sldChg chg="addSp modSp mod">
        <pc:chgData name="Sanuri Divyanjalee" userId="00fc05d7732b1295" providerId="LiveId" clId="{933302C6-05A4-4A78-A316-C7F9F5FC66FD}" dt="2025-05-01T18:13:34.504" v="350" actId="113"/>
        <pc:sldMkLst>
          <pc:docMk/>
          <pc:sldMk cId="1269708535" sldId="260"/>
        </pc:sldMkLst>
        <pc:spChg chg="add">
          <ac:chgData name="Sanuri Divyanjalee" userId="00fc05d7732b1295" providerId="LiveId" clId="{933302C6-05A4-4A78-A316-C7F9F5FC66FD}" dt="2025-05-01T18:09:05.420" v="1"/>
          <ac:spMkLst>
            <pc:docMk/>
            <pc:sldMk cId="1269708535" sldId="260"/>
            <ac:spMk id="3" creationId="{437ED644-D87C-8F35-DD30-25A8FF6F4282}"/>
          </ac:spMkLst>
        </pc:spChg>
        <pc:spChg chg="add">
          <ac:chgData name="Sanuri Divyanjalee" userId="00fc05d7732b1295" providerId="LiveId" clId="{933302C6-05A4-4A78-A316-C7F9F5FC66FD}" dt="2025-05-01T18:09:10.344" v="4"/>
          <ac:spMkLst>
            <pc:docMk/>
            <pc:sldMk cId="1269708535" sldId="260"/>
            <ac:spMk id="4" creationId="{E261877F-BD79-36AE-7506-4EE7B681A76D}"/>
          </ac:spMkLst>
        </pc:spChg>
        <pc:spChg chg="add">
          <ac:chgData name="Sanuri Divyanjalee" userId="00fc05d7732b1295" providerId="LiveId" clId="{933302C6-05A4-4A78-A316-C7F9F5FC66FD}" dt="2025-05-01T18:09:15.563" v="6"/>
          <ac:spMkLst>
            <pc:docMk/>
            <pc:sldMk cId="1269708535" sldId="260"/>
            <ac:spMk id="6" creationId="{06196EDA-D668-0245-1921-5F2AB3BBA4D0}"/>
          </ac:spMkLst>
        </pc:spChg>
        <pc:spChg chg="add mod">
          <ac:chgData name="Sanuri Divyanjalee" userId="00fc05d7732b1295" providerId="LiveId" clId="{933302C6-05A4-4A78-A316-C7F9F5FC66FD}" dt="2025-05-01T18:09:34.392" v="11" actId="255"/>
          <ac:spMkLst>
            <pc:docMk/>
            <pc:sldMk cId="1269708535" sldId="260"/>
            <ac:spMk id="7" creationId="{6999BCF4-B141-D368-5FD7-C286F246C699}"/>
          </ac:spMkLst>
        </pc:spChg>
        <pc:spChg chg="add">
          <ac:chgData name="Sanuri Divyanjalee" userId="00fc05d7732b1295" providerId="LiveId" clId="{933302C6-05A4-4A78-A316-C7F9F5FC66FD}" dt="2025-05-01T18:10:40.841" v="113"/>
          <ac:spMkLst>
            <pc:docMk/>
            <pc:sldMk cId="1269708535" sldId="260"/>
            <ac:spMk id="8" creationId="{F8254BC5-6278-CD0C-8567-6439B634E2B8}"/>
          </ac:spMkLst>
        </pc:spChg>
        <pc:spChg chg="mod">
          <ac:chgData name="Sanuri Divyanjalee" userId="00fc05d7732b1295" providerId="LiveId" clId="{933302C6-05A4-4A78-A316-C7F9F5FC66FD}" dt="2025-05-01T18:13:34.504" v="350" actId="113"/>
          <ac:spMkLst>
            <pc:docMk/>
            <pc:sldMk cId="1269708535" sldId="260"/>
            <ac:spMk id="15" creationId="{A60F6172-69BB-0A0B-CC16-37C116BEA3C3}"/>
          </ac:spMkLst>
        </pc:spChg>
      </pc:sldChg>
      <pc:sldChg chg="modSp mod">
        <pc:chgData name="Sanuri Divyanjalee" userId="00fc05d7732b1295" providerId="LiveId" clId="{933302C6-05A4-4A78-A316-C7F9F5FC66FD}" dt="2025-05-01T18:14:21.568" v="359" actId="20577"/>
        <pc:sldMkLst>
          <pc:docMk/>
          <pc:sldMk cId="4053898507" sldId="262"/>
        </pc:sldMkLst>
        <pc:spChg chg="mod">
          <ac:chgData name="Sanuri Divyanjalee" userId="00fc05d7732b1295" providerId="LiveId" clId="{933302C6-05A4-4A78-A316-C7F9F5FC66FD}" dt="2025-05-01T18:14:21.568" v="359" actId="20577"/>
          <ac:spMkLst>
            <pc:docMk/>
            <pc:sldMk cId="4053898507" sldId="262"/>
            <ac:spMk id="4" creationId="{30EA3791-7B94-EB2D-42EF-7CEF0E01E6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5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42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2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9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2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61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1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37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7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1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40442-C22F-C709-1DA8-B0A43E57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896" y="314325"/>
            <a:ext cx="4361688" cy="31813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i="1" dirty="0"/>
              <a:t>The</a:t>
            </a:r>
            <a:br>
              <a:rPr lang="en-US" sz="5400" i="1" dirty="0"/>
            </a:br>
            <a:r>
              <a:rPr lang="en-US" sz="5400" i="1" dirty="0"/>
              <a:t>Freezer Gambit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B4F9F-FF80-0C3B-7FB7-2CDDA8E82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4344" y="3904488"/>
            <a:ext cx="4206240" cy="223113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dirty="0"/>
              <a:t>Agricultural Market price Forecasting for Strategic Decision Support</a:t>
            </a:r>
            <a:br>
              <a:rPr lang="en-US" i="1" dirty="0"/>
            </a:br>
            <a:br>
              <a:rPr lang="en-US" i="1" dirty="0"/>
            </a:br>
            <a:r>
              <a:rPr lang="en-US" b="1" i="1" dirty="0"/>
              <a:t>Team name  </a:t>
            </a:r>
            <a:r>
              <a:rPr lang="en-US" i="1" dirty="0"/>
              <a:t>: The Tria Lumen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3A06D-9AE4-6F61-F12A-124481C37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03" r="427" b="-1"/>
          <a:stretch/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8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2A514-AEA6-7229-E18A-AF1962905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603504"/>
            <a:ext cx="6096000" cy="15497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300" b="1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br>
              <a:rPr lang="en-US" sz="33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br>
              <a:rPr lang="en-US" sz="33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73262D-6387-B142-F62C-5084EA2081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05" r="21275" b="1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C847362-8452-F729-B2B5-1CF45B354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8533" y="1563329"/>
            <a:ext cx="5916169" cy="5102941"/>
          </a:xfrm>
        </p:spPr>
        <p:txBody>
          <a:bodyPr vert="horz" lIns="91440" tIns="45720" rIns="91440" bIns="45720" rtlCol="0">
            <a:normAutofit/>
          </a:bodyPr>
          <a:lstStyle/>
          <a:p>
            <a:pPr marR="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Business Challenge</a:t>
            </a:r>
            <a:endParaRPr lang="en-US" sz="1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Challenge: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Agrovia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agricultural markets follow a weekly cycle which puts farmers under selling price pressure.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Magnus Greenvale's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AgroChill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initiative aims to leverage cold storage for strategic market timing.</a:t>
            </a: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imitation: Farmers experience difficulty making accurate decisions regarding selling their products or storing them for later sales.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 Delivered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advanced time-series forecasting system generates 4-week price predictions to assist farmers with their decisions. </a:t>
            </a: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strategic decisions between fresh market sales and freezing for future market through data-driven analysis. </a:t>
            </a: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efficiency solution working within strict hardware constraints</a:t>
            </a:r>
          </a:p>
          <a:p>
            <a:pPr marL="285750" marR="0" indent="-285750"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 generates 8-12% increased prices on average by selecting optimal selling periods.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93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01DEE-BAF9-8544-E0EC-D69FB9DE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-82296"/>
            <a:ext cx="5916169" cy="1618488"/>
          </a:xfrm>
        </p:spPr>
        <p:txBody>
          <a:bodyPr anchor="b">
            <a:normAutofit/>
          </a:bodyPr>
          <a:lstStyle/>
          <a:p>
            <a:r>
              <a:rPr lang="en-US" sz="2500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analysis and market insights.</a:t>
            </a:r>
            <a:br>
              <a:rPr lang="en-US" sz="25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43ADCCD7-24DF-B63B-0E1C-6DD0C261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92" r="33258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DE5E393-6AFA-06A1-B85B-03CCA2F64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5481" y="828479"/>
            <a:ext cx="676254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Foundation: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Dataset (2040–2045): Time series of regional rainfall, temperature, and humidity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Dataset (2040–2045): Past commodity prices for various product categories and geographical areas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Market Patterns Found: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Patterns: Seasonal influences, weekly cycles with predictable peaks and troughs, and 72% increased volatility during transitional seasons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Differences: For the same commodity, prices might vary by up to 30% different locations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Commodity-Specific Behavior: Measured variations in volatility among product types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Effects: There are statistically significant relationships between price fluctuations and weather occurrences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 to Data Quality: 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smooth connection between weekly price observations and daily weather data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strong preprocessing for missing values and outlier detection</a:t>
            </a:r>
          </a:p>
        </p:txBody>
      </p:sp>
    </p:spTree>
    <p:extLst>
      <p:ext uri="{BB962C8B-B14F-4D97-AF65-F5344CB8AC3E}">
        <p14:creationId xmlns:p14="http://schemas.microsoft.com/office/powerpoint/2010/main" val="192872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97A9B-AB44-0CF2-9334-F0C0AB7D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4008"/>
            <a:ext cx="5577902" cy="1819656"/>
          </a:xfrm>
        </p:spPr>
        <p:txBody>
          <a:bodyPr anchor="b">
            <a:normAutofit/>
          </a:bodyPr>
          <a:lstStyle/>
          <a:p>
            <a:r>
              <a:rPr lang="en-US" sz="2500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 Approach &amp; Strategy</a:t>
            </a:r>
            <a:br>
              <a:rPr lang="en-US" sz="2500" b="1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b="1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/>
          </a:p>
        </p:txBody>
      </p:sp>
      <p:pic>
        <p:nvPicPr>
          <p:cNvPr id="7" name="Graphic 6" descr="Arrow Circle">
            <a:extLst>
              <a:ext uri="{FF2B5EF4-FFF2-40B4-BE49-F238E27FC236}">
                <a16:creationId xmlns:a16="http://schemas.microsoft.com/office/drawing/2014/main" id="{4DB0E94F-D412-65D9-B271-74CC845CA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48" y="1102440"/>
            <a:ext cx="4937760" cy="4681506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E169564-E2D2-618B-1D8C-4E1A441E8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5500" y="1866346"/>
            <a:ext cx="6478184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Solution: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Model: Histogram-based splits in gradient boosting regression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components:Time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series preprocessing and robust scaling adjustments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Selection criteria: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Outstanding memory efficiency (important for deployment limits)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Superior accuracy on key metrics (RMSE, MAPE, R²)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Capable of managing missing values and categorical features natively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using feature importance metrics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Excellent performance on non-linear patterns seen in agricultural data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 of Validation: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Rolling window evaluation that matches real-world prediction scenarios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Time-series cross-validation with precise chronological separation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particular focus on accuracy maintenance over longer prediction horizons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3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86688-90B2-5F58-4779-117C4501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488" y="548640"/>
            <a:ext cx="10424160" cy="1133856"/>
          </a:xfrm>
        </p:spPr>
        <p:txBody>
          <a:bodyPr anchor="t">
            <a:normAutofit/>
          </a:bodyPr>
          <a:lstStyle/>
          <a:p>
            <a:r>
              <a:rPr lang="en-US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Engineering &amp; Selection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raphic 12" descr="Bar chart">
            <a:extLst>
              <a:ext uri="{FF2B5EF4-FFF2-40B4-BE49-F238E27FC236}">
                <a16:creationId xmlns:a16="http://schemas.microsoft.com/office/drawing/2014/main" id="{F7605E22-86BE-7FDF-C95B-1BCD5A222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" y="1792223"/>
            <a:ext cx="3858768" cy="369853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A514D72-003A-8B77-08FC-5247CE4E44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3175" y="1700858"/>
            <a:ext cx="6841938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of Engineering: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thorough feature structure with four dimensions was developed: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Features: Seasonal indicators, rolling statistics, and past price trends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Derivatives: A collection of environmental measurements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Effects: Interactions between the environment and the market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Indicators for volatility: Measures of market stability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Selection: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Multi-phase filtering procedure that combines domain knowledge and statistical techniques: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Using correlation analysis to reduce multicollinearity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Ranking of importance using permutation techniques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Thresholding for statistical significance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Integration of domain knowledge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Drivers of Prediction: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circumstances (major influence)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volatility metrics (important contextual indications)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Cyclical indicators (capture seasonal patterns)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Recent price information (strongest predictors)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31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8B064-6531-CE16-44B1-BB908D00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95" y="87704"/>
            <a:ext cx="6766560" cy="685800"/>
          </a:xfrm>
        </p:spPr>
        <p:txBody>
          <a:bodyPr anchor="b">
            <a:normAutofit fontScale="90000"/>
          </a:bodyPr>
          <a:lstStyle/>
          <a:p>
            <a:r>
              <a:rPr lang="en-US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Performance &amp; Evaluation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60F6172-69BB-0A0B-CC16-37C116BEA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861208"/>
            <a:ext cx="6323223" cy="5755902"/>
          </a:xfrm>
        </p:spPr>
        <p:txBody>
          <a:bodyPr>
            <a:noAutofit/>
          </a:bodyPr>
          <a:lstStyle/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Metrics</a:t>
            </a:r>
            <a:r>
              <a:rPr lang="en-US" sz="1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 -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0.77 silver drachmas/kg : indicates high prediction accuracy           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1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Hyperparameters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earning_rate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0.07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5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in_samples_leaf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20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l2_regularization – 0.8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Metrics: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Usage: 160.01 MB during inference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Uptime: 0.099 hours (~6 minutes) since deployment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Served: 1 request processed so far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b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Segment Performance Analysis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Commodity Type: Performance variance from staple vegetables (7-9% MAPE) to specialty items (15-18% MAPE).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indent="0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prediction accuracy of the forecasting model shows variances in different regions depending on standards of market activity infrastructure and quality of available data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0FAC3AFB-3034-2E61-C673-1C09069B7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12" r="308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08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C0238-DFE1-0B42-0DFB-918E5D79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311498"/>
            <a:ext cx="5916169" cy="730917"/>
          </a:xfrm>
        </p:spPr>
        <p:txBody>
          <a:bodyPr anchor="b">
            <a:normAutofit/>
          </a:bodyPr>
          <a:lstStyle/>
          <a:p>
            <a:r>
              <a:rPr lang="en-US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Pipeline Architecture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815176A7-9ECC-864A-3D69-7CCAE70A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07" r="45318" b="-446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09ABC6B-5E5B-E2DB-ABBD-01BCB7868C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1687" y="1519706"/>
            <a:ext cx="6958954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Data Flow: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Ingestion Layer: Organized collection of price and meteorological information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Validation Pipeline: Identification of anomalies and quality control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Engineering: The process of automatically converting unprocessed data into model features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Prediction Engine: Enhanced forecasting using metrics for confidence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Output Formatting: Delivering insights that are ready for business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Process: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Constant observation of data drift in connection to calibrated thresholds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Prediction-reality divergence-based automated retraining triggers  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 update modes 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retraining for major pattern changes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ncremental upgrades for slight market adjustments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of Data Quality: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Detailed validation guidelines for incoming data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Anomaly identification for odd weather or market conditions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Methodical approaches to handling outliers and missing data</a:t>
            </a:r>
          </a:p>
        </p:txBody>
      </p:sp>
    </p:spTree>
    <p:extLst>
      <p:ext uri="{BB962C8B-B14F-4D97-AF65-F5344CB8AC3E}">
        <p14:creationId xmlns:p14="http://schemas.microsoft.com/office/powerpoint/2010/main" val="343074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D29A-BAF8-9311-DFFA-92C65DBC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804" y="132643"/>
            <a:ext cx="7123176" cy="939377"/>
          </a:xfrm>
        </p:spPr>
        <p:txBody>
          <a:bodyPr anchor="b">
            <a:normAutofit fontScale="90000"/>
          </a:bodyPr>
          <a:lstStyle/>
          <a:p>
            <a:r>
              <a:rPr lang="en-US" b="1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&amp; Resource Optimization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AF928-A391-6288-B8BE-1739E7EF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40" r="47285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0EA3791-7B94-EB2D-42EF-7CEF0E01E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4763" y="1255333"/>
            <a:ext cx="6959753" cy="5480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 Architecture: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services: A monitoring system, data pipeline, API interface, and prediction engine.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Framework: Clearly defined component interfaces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model: Containerized microservices architecture </a:t>
            </a:r>
            <a:endParaRPr kumimoji="0" lang="en-US" altLang="en-US" sz="1400" i="0" strike="noStrike" cap="none" normalizeH="0" baseline="0" dirty="0">
              <a:ln>
                <a:noFill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400" b="1" u="sng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Efficiency</a:t>
            </a:r>
            <a:endParaRPr lang="en-US" sz="14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Peak RAM Usage: 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 during inference (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of 2GB constraint)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Optimization Techniques:</a:t>
            </a:r>
            <a:endParaRPr lang="en-US" sz="14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cting features strategically to reduce </a:t>
            </a:r>
            <a:r>
              <a:rPr lang="en-US" sz="1400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dimentionality</a:t>
            </a:r>
            <a:endParaRPr lang="en-US" sz="1400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Effective management of data types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 using </a:t>
            </a:r>
            <a:r>
              <a:rPr lang="en-US" sz="1400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alogrithms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memory performance</a:t>
            </a:r>
            <a:b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 Optimization</a:t>
            </a:r>
            <a:endParaRPr lang="en-US" sz="14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Docker Image Size: 1.2GB (15% of 8GB maximum)</a:t>
            </a:r>
            <a:endParaRPr lang="en-US" sz="14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 Reduction Strategies                                                                                              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Multi-stage build processes                                                                                                   Model compression techniques                                                                                                     Dependency optimization</a:t>
            </a:r>
            <a:endParaRPr lang="en-US" sz="1400" b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Computational Performance                                                                                    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Inference Time: 42ms per prediction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95th Percentile Latency: 78ms</a:t>
            </a:r>
            <a:r>
              <a:rPr lang="en-US" sz="1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CPU Utilization: 18% during peak operations                                                                           No GPU Dependency</a:t>
            </a:r>
          </a:p>
        </p:txBody>
      </p:sp>
    </p:spTree>
    <p:extLst>
      <p:ext uri="{BB962C8B-B14F-4D97-AF65-F5344CB8AC3E}">
        <p14:creationId xmlns:p14="http://schemas.microsoft.com/office/powerpoint/2010/main" val="4053898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64365-FF4F-7FA8-56EB-99FB6C31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7216" y="210312"/>
            <a:ext cx="7034764" cy="822960"/>
          </a:xfrm>
        </p:spPr>
        <p:txBody>
          <a:bodyPr anchor="b">
            <a:normAutofit/>
          </a:bodyPr>
          <a:lstStyle/>
          <a:p>
            <a:r>
              <a:rPr lang="en-US" sz="3200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Graph">
            <a:extLst>
              <a:ext uri="{FF2B5EF4-FFF2-40B4-BE49-F238E27FC236}">
                <a16:creationId xmlns:a16="http://schemas.microsoft.com/office/drawing/2014/main" id="{FD5D4157-17D6-BF64-28AF-A50FB415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59" r="35191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3E91-E4EB-B6A8-491E-F3C2AF7C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5816" y="1243584"/>
            <a:ext cx="6519671" cy="533095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11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39FFE5-6EFE-045A-78E6-320F3A76B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489" y="1409437"/>
            <a:ext cx="718334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Decision Support: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guidelines for hold/sell decisions based on price expectations are used in storage timing optimization.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profitable chances across markets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price stability patterns to optimize the product mix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Business Insights: 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commodity type-specific temperature sensitivity is 2.3 times higher for leafy greens.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infrastructure, price transfer delays across regions can range from one to three weeks.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Patterns of seasonal volatility, which are 72% higher during times of transition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ideal storage durations for each commodity category (ranging from one to four weeks)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Measurable Impact on Business: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timing can increase average prices by 8–12%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 spoiling can be reduced by 15%–20%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Cold storage utilization efficiency can be increased by 25%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routing can reduce logistics costs by 30%.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19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F108F-BD17-94B3-D887-5E970FC6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540" y="435519"/>
            <a:ext cx="7001225" cy="941832"/>
          </a:xfrm>
        </p:spPr>
        <p:txBody>
          <a:bodyPr anchor="b">
            <a:normAutofit fontScale="90000"/>
          </a:bodyPr>
          <a:lstStyle/>
          <a:p>
            <a:pPr>
              <a:buNone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 for </a:t>
            </a:r>
            <a:r>
              <a:rPr lang="en-US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AgroChill</a:t>
            </a:r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C696A5-8461-4366-2F06-BAEB8E59A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53" r="43872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89EFC-4B9A-7425-060B-2E034DB6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734" y="1812870"/>
            <a:ext cx="6720839" cy="4918146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when forecasted price ≥ 5–8% above current (covers storage + profit).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storage for volatile, weather-sensitive commodities (e.g., leafy greens).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regional price forecasts for arbitrage across markets.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storage to 1–2 weeks (staples), up to 4 weeks (specialty crops).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storage in spring/autumn (72% higher price volatility).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storage demand to optimize capacity &amp; scheduling.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 model if forecast error &gt;15% for 2 weeks.</a:t>
            </a:r>
          </a:p>
        </p:txBody>
      </p:sp>
    </p:spTree>
    <p:extLst>
      <p:ext uri="{BB962C8B-B14F-4D97-AF65-F5344CB8AC3E}">
        <p14:creationId xmlns:p14="http://schemas.microsoft.com/office/powerpoint/2010/main" val="280428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283FE-5E1F-66ED-2A64-993C0618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381" y="557529"/>
            <a:ext cx="6665976" cy="548640"/>
          </a:xfrm>
        </p:spPr>
        <p:txBody>
          <a:bodyPr anchor="b">
            <a:normAutofit fontScale="90000"/>
          </a:bodyPr>
          <a:lstStyle/>
          <a:p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Strategic Roadmap &amp; Conclusion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C5C7C9D-D8BB-1FD6-8FFB-E41DC73E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06" r="22219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0BE4186-5B51-5945-32A3-4069505E4D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9201" y="1721266"/>
            <a:ext cx="706447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Evolution Path: 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forecasting for better risk assessment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ensemble methods for increased prediction accuracy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external data (festival schedules, economic indicators)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modeling; and inventory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of Business Capabilities: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for contract negotiation support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Harvest timing optimization system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Advisory services for planting mixes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Planning for cold storage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 Summary of the Project: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data-driven basis for strategic agricultural decisions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agricultural market participation from reactive to proactive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Produced a significant Return On Investment through pricing optimization and waste reduction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Cornelius Greenvale's goal of revolutionizing the agriculture market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481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B44E8DF7-B561-2843-4A0F-6F22C89AE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858" b="19142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941D94-6834-335F-B181-81E70BBC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923" y="1482602"/>
            <a:ext cx="7588155" cy="2236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rgbClr val="FFFFFF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442571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1267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Display</vt:lpstr>
      <vt:lpstr>Arial</vt:lpstr>
      <vt:lpstr>Neue Haas Grotesk Text Pro</vt:lpstr>
      <vt:lpstr>Times New Roman</vt:lpstr>
      <vt:lpstr>VanillaVTI</vt:lpstr>
      <vt:lpstr>The Freezer Gambit Forecasting</vt:lpstr>
      <vt:lpstr>Overview   </vt:lpstr>
      <vt:lpstr>Data analysis and market insights.  </vt:lpstr>
      <vt:lpstr>Modeling Approach &amp; Strategy  </vt:lpstr>
      <vt:lpstr>Feature Engineering &amp; Selection</vt:lpstr>
      <vt:lpstr>Model Performance &amp; Evaluation</vt:lpstr>
      <vt:lpstr>Data Pipeline Architecture</vt:lpstr>
      <vt:lpstr> System Architecture &amp; Resource Optimization</vt:lpstr>
      <vt:lpstr>Business Insights</vt:lpstr>
      <vt:lpstr>Strategic Recommendations for AgroChill</vt:lpstr>
      <vt:lpstr>Strategic Roadmap &amp; 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DLI Athukorala</dc:creator>
  <cp:lastModifiedBy>Sanuri Divyanjalee</cp:lastModifiedBy>
  <cp:revision>14</cp:revision>
  <dcterms:created xsi:type="dcterms:W3CDTF">2025-05-01T08:05:44Z</dcterms:created>
  <dcterms:modified xsi:type="dcterms:W3CDTF">2025-05-01T18:14:26Z</dcterms:modified>
</cp:coreProperties>
</file>